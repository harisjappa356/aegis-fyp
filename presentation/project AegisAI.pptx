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6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2" r:id="rId9"/>
    <p:sldId id="264" r:id="rId10"/>
    <p:sldId id="293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</p:sldIdLst>
  <p:sldSz cx="14630400" cy="8229600"/>
  <p:notesSz cx="8229600" cy="14630400"/>
  <p:embeddedFontLst>
    <p:embeddedFont>
      <p:font typeface="Host Grotesk Medium" panose="020B0604020202020204" charset="0"/>
      <p:bold r:id="rId23"/>
    </p:embeddedFont>
    <p:embeddedFont>
      <p:font typeface="Roboto" panose="02000000000000000000" pitchFamily="2" charset="0"/>
      <p:regular r:id="rId24"/>
    </p:embeddedFont>
    <p:embeddedFont>
      <p:font typeface="Segoe UI Black" panose="020B0A02040204020203" pitchFamily="34" charset="0"/>
      <p:bold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984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12D86">
                <a:alpha val="100000"/>
              </a:srgbClr>
            </a:gs>
            <a:gs pos="100000">
              <a:srgbClr val="0E25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21" Type="http://schemas.openxmlformats.org/officeDocument/2006/relationships/image" Target="../media/image6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notesSlide" Target="../notesSlides/notesSlide12.xml"/><Relationship Id="rId10" Type="http://schemas.openxmlformats.org/officeDocument/2006/relationships/tags" Target="../tags/tag26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image" Target="../media/image32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notesSlide" Target="../notesSlides/notesSlide1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34.xml"/><Relationship Id="rId15" Type="http://schemas.openxmlformats.org/officeDocument/2006/relationships/image" Target="../media/image34.png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slideLayout" Target="../slideLayouts/slideLayout8.xml"/><Relationship Id="rId18" Type="http://schemas.openxmlformats.org/officeDocument/2006/relationships/image" Target="../media/image38.bin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17" Type="http://schemas.openxmlformats.org/officeDocument/2006/relationships/image" Target="../media/image37.png"/><Relationship Id="rId2" Type="http://schemas.openxmlformats.org/officeDocument/2006/relationships/tags" Target="../tags/tag41.xml"/><Relationship Id="rId16" Type="http://schemas.openxmlformats.org/officeDocument/2006/relationships/image" Target="../media/image36.png"/><Relationship Id="rId20" Type="http://schemas.openxmlformats.org/officeDocument/2006/relationships/image" Target="../media/image40.svg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image" Target="../media/image35.webp"/><Relationship Id="rId10" Type="http://schemas.openxmlformats.org/officeDocument/2006/relationships/tags" Target="../tags/tag49.xml"/><Relationship Id="rId19" Type="http://schemas.openxmlformats.org/officeDocument/2006/relationships/image" Target="../media/image39.png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285" y="32190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u="sng" dirty="0">
                <a:solidFill>
                  <a:srgbClr val="3A6B7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Aegis.AI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309285" y="1393190"/>
            <a:ext cx="4946452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AI Governance Platform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309285" y="2246352"/>
            <a:ext cx="13042821" cy="4251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FYP Phase 1 Presentation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09285" y="2966396"/>
            <a:ext cx="13042821" cy="35957"/>
          </a:xfrm>
          <a:prstGeom prst="rect">
            <a:avLst/>
          </a:prstGeom>
          <a:solidFill>
            <a:srgbClr val="384653">
              <a:alpha val="5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9285" y="3296841"/>
            <a:ext cx="13042821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Team Members:</a:t>
            </a:r>
            <a:r>
              <a:rPr lang="en-US" sz="20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Muhammad Haris (F2022376040) • Ahmed Abdullah Khan (F2022376096) • Farhana Minhas (F2022376126)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9285" y="4008358"/>
            <a:ext cx="13042821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Supervisor:</a:t>
            </a:r>
            <a:r>
              <a:rPr lang="en-US" sz="20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          Supervised by: Sir Usama Ahmad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9285" y="4764961"/>
            <a:ext cx="13042821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Institution:</a:t>
            </a:r>
            <a:r>
              <a:rPr lang="en-US" sz="20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           Department of AI &amp; Data Science, SST, UMT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9285" y="5522198"/>
            <a:ext cx="13042821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Date:</a:t>
            </a:r>
            <a:r>
              <a:rPr lang="en-US" sz="20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                      March 2026</a:t>
            </a:r>
            <a:endParaRPr lang="en-US"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pic>
        <p:nvPicPr>
          <p:cNvPr id="11" name="Picture 10" descr="aegislogo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220" y="1030605"/>
            <a:ext cx="15190470" cy="6051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016" y="357743"/>
            <a:ext cx="3568898" cy="446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78356" y="1139746"/>
            <a:ext cx="142756" cy="1783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Host Grotesk Light" pitchFamily="34" charset="-122"/>
                <a:cs typeface="Times New Roman" panose="02020603050405020304" charset="0"/>
              </a:rPr>
              <a:t>01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061" y="1657112"/>
            <a:ext cx="4880253" cy="15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4865" y="1079500"/>
            <a:ext cx="3006090" cy="2387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Introduction</a:t>
            </a:r>
          </a:p>
        </p:txBody>
      </p:sp>
      <p:sp>
        <p:nvSpPr>
          <p:cNvPr id="7" name="Text 4"/>
          <p:cNvSpPr/>
          <p:nvPr/>
        </p:nvSpPr>
        <p:spPr>
          <a:xfrm>
            <a:off x="7127042" y="1095931"/>
            <a:ext cx="142756" cy="1783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Host Grotesk Light" pitchFamily="34" charset="-122"/>
                <a:cs typeface="Times New Roman" panose="02020603050405020304" charset="0"/>
              </a:rPr>
              <a:t>02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087" y="1657112"/>
            <a:ext cx="4880253" cy="15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50282" y="1051520"/>
            <a:ext cx="2656165" cy="223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Problem Statement &amp; Objectives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78356" y="2075498"/>
            <a:ext cx="142756" cy="1783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Host Grotesk Light" pitchFamily="34" charset="-122"/>
                <a:cs typeface="Times New Roman" panose="02020603050405020304" charset="0"/>
              </a:rPr>
              <a:t>03</a:t>
            </a: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061" y="2619970"/>
            <a:ext cx="4880253" cy="15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356" y="1961237"/>
            <a:ext cx="4880253" cy="446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Domain Analysis &amp; System Architecture (C4 L1→L3, ERD, DFD)</a:t>
            </a:r>
          </a:p>
        </p:txBody>
      </p:sp>
      <p:sp>
        <p:nvSpPr>
          <p:cNvPr id="15" name="Text 10"/>
          <p:cNvSpPr/>
          <p:nvPr/>
        </p:nvSpPr>
        <p:spPr>
          <a:xfrm>
            <a:off x="7074337" y="2120583"/>
            <a:ext cx="142756" cy="1783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Host Grotesk Light" pitchFamily="34" charset="-122"/>
                <a:cs typeface="Times New Roman" panose="02020603050405020304" charset="0"/>
              </a:rPr>
              <a:t>04</a:t>
            </a: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087" y="2634139"/>
            <a:ext cx="4880253" cy="152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50282" y="2075537"/>
            <a:ext cx="3228499" cy="223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Product Backlog &amp; Scrum Methodology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78356" y="3232348"/>
            <a:ext cx="142756" cy="1783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Host Grotesk Light" pitchFamily="34" charset="-122"/>
                <a:cs typeface="Times New Roman" panose="02020603050405020304" charset="0"/>
              </a:rPr>
              <a:t>05</a:t>
            </a: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061" y="3805714"/>
            <a:ext cx="4880253" cy="15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3181" y="3187303"/>
            <a:ext cx="2045137" cy="223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Figma Prototype Designs</a:t>
            </a:r>
          </a:p>
        </p:txBody>
      </p:sp>
      <p:sp>
        <p:nvSpPr>
          <p:cNvPr id="23" name="Text 16"/>
          <p:cNvSpPr/>
          <p:nvPr/>
        </p:nvSpPr>
        <p:spPr>
          <a:xfrm>
            <a:off x="7074337" y="3232348"/>
            <a:ext cx="142756" cy="1783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Host Grotesk Light" pitchFamily="34" charset="-122"/>
                <a:cs typeface="Times New Roman" panose="02020603050405020304" charset="0"/>
              </a:rPr>
              <a:t>06</a:t>
            </a: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087" y="3805714"/>
            <a:ext cx="4880253" cy="152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650282" y="3187303"/>
            <a:ext cx="3436382" cy="223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Live Demo — VS Code &amp; Project Structure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78356" y="4257000"/>
            <a:ext cx="142756" cy="1783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Host Grotesk Light" pitchFamily="34" charset="-122"/>
                <a:cs typeface="Times New Roman" panose="02020603050405020304" charset="0"/>
              </a:rPr>
              <a:t>07</a:t>
            </a:r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061" y="4768572"/>
            <a:ext cx="4880253" cy="152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3181" y="4212590"/>
            <a:ext cx="3788569" cy="223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Live Demo — Running Platform (10+ modules)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7127042" y="4159210"/>
            <a:ext cx="142756" cy="1783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Host Grotesk Light" pitchFamily="34" charset="-122"/>
                <a:cs typeface="Times New Roman" panose="02020603050405020304" charset="0"/>
              </a:rPr>
              <a:t>08</a:t>
            </a:r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087" y="4768572"/>
            <a:ext cx="4880253" cy="152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650282" y="4114800"/>
            <a:ext cx="1784390" cy="223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Algorithms Deep Dive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178435" y="5408930"/>
            <a:ext cx="211455" cy="2044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Host Grotesk Light" pitchFamily="34" charset="-122"/>
                <a:cs typeface="Times New Roman" panose="02020603050405020304" charset="0"/>
              </a:rPr>
              <a:t>09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061" y="5731312"/>
            <a:ext cx="4880253" cy="152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83181" y="5364242"/>
            <a:ext cx="3073479" cy="223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Data Dictionary &amp; Approval Sequence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7127042" y="5408652"/>
            <a:ext cx="142756" cy="1783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Host Grotesk Light" pitchFamily="34" charset="-122"/>
                <a:cs typeface="Times New Roman" panose="02020603050405020304" charset="0"/>
              </a:rPr>
              <a:t>10</a:t>
            </a:r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087" y="5731312"/>
            <a:ext cx="4880253" cy="152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7650282" y="5364242"/>
            <a:ext cx="1902023" cy="223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Sprint Highlights (All 9)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Text 31"/>
          <p:cNvSpPr/>
          <p:nvPr/>
        </p:nvSpPr>
        <p:spPr>
          <a:xfrm>
            <a:off x="252016" y="6477119"/>
            <a:ext cx="142756" cy="1783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Host Grotesk Light" pitchFamily="34" charset="-122"/>
                <a:cs typeface="Times New Roman" panose="02020603050405020304" charset="0"/>
              </a:rPr>
              <a:t>11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061" y="6694170"/>
            <a:ext cx="4880253" cy="1524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83181" y="6432709"/>
            <a:ext cx="1784390" cy="223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Results &amp; Statistics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Text 34"/>
          <p:cNvSpPr/>
          <p:nvPr/>
        </p:nvSpPr>
        <p:spPr>
          <a:xfrm>
            <a:off x="7127042" y="6379964"/>
            <a:ext cx="142756" cy="1783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Host Grotesk Light" pitchFamily="34" charset="-122"/>
                <a:cs typeface="Times New Roman" panose="02020603050405020304" charset="0"/>
              </a:rPr>
              <a:t>12</a:t>
            </a:r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087" y="6694170"/>
            <a:ext cx="4880253" cy="15240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7650282" y="6380004"/>
            <a:ext cx="2112526" cy="223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Conclusion &amp; Future Work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cxnSp>
        <p:nvCxnSpPr>
          <p:cNvPr id="53" name="Straight Connector 52"/>
          <p:cNvCxnSpPr/>
          <p:nvPr/>
        </p:nvCxnSpPr>
        <p:spPr>
          <a:xfrm>
            <a:off x="161925" y="869950"/>
            <a:ext cx="12651740" cy="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137795" y="1724660"/>
            <a:ext cx="542544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178435" y="2959100"/>
            <a:ext cx="542544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252095" y="3990340"/>
            <a:ext cx="542544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321310" y="5087620"/>
            <a:ext cx="542544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321310" y="6164580"/>
            <a:ext cx="542544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305435" y="7221220"/>
            <a:ext cx="542544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7127240" y="1724660"/>
            <a:ext cx="542544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7127240" y="2959100"/>
            <a:ext cx="542544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7105015" y="3990340"/>
            <a:ext cx="542544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7127240" y="5087620"/>
            <a:ext cx="542544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7105015" y="6164580"/>
            <a:ext cx="542544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7105015" y="7160260"/>
            <a:ext cx="542544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7582"/>
            <a:ext cx="943796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Why AI Governance is Broken Today</a:t>
            </a:r>
            <a:endParaRPr lang="en-US" sz="445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93790" y="1819989"/>
            <a:ext cx="4196358" cy="2379821"/>
          </a:xfrm>
          <a:prstGeom prst="roundRect">
            <a:avLst>
              <a:gd name="adj" fmla="val 6148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63310" y="1819989"/>
            <a:ext cx="121920" cy="2379821"/>
          </a:xfrm>
          <a:prstGeom prst="rect">
            <a:avLst/>
          </a:prstGeom>
        </p:spPr>
      </p:pic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885349" y="1859478"/>
            <a:ext cx="329957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1. Regulatory Complexity</a:t>
            </a:r>
            <a:endParaRPr lang="en-US" sz="2200" dirty="0"/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984409" y="2706132"/>
            <a:ext cx="3590330" cy="10204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EU AI Act + ISO 42001 + ISO 27001 + NIST AI RMF = hundreds of controls to track simultaneously</a:t>
            </a:r>
            <a:endParaRPr lang="en-US" sz="1750" dirty="0"/>
          </a:p>
        </p:txBody>
      </p:sp>
      <p:sp>
        <p:nvSpPr>
          <p:cNvPr id="7" name="Shape 4"/>
          <p:cNvSpPr/>
          <p:nvPr>
            <p:custDataLst>
              <p:tags r:id="rId5"/>
            </p:custDataLst>
          </p:nvPr>
        </p:nvSpPr>
        <p:spPr>
          <a:xfrm>
            <a:off x="5216962" y="1819989"/>
            <a:ext cx="4196358" cy="2379821"/>
          </a:xfrm>
          <a:prstGeom prst="roundRect">
            <a:avLst>
              <a:gd name="adj" fmla="val 6148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186482" y="1819989"/>
            <a:ext cx="121920" cy="2379821"/>
          </a:xfrm>
          <a:prstGeom prst="rect">
            <a:avLst/>
          </a:prstGeom>
        </p:spPr>
      </p:pic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5308521" y="1837888"/>
            <a:ext cx="3561398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2. No Centralized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Oversight</a:t>
            </a:r>
            <a:endParaRPr lang="en-US" sz="2200" dirty="0"/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5410121" y="2895362"/>
            <a:ext cx="3590330" cy="10204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AI models, risks, vendors, and policies managed in disconnected spreadsheets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1819989"/>
            <a:ext cx="4196358" cy="2379821"/>
          </a:xfrm>
          <a:prstGeom prst="roundRect">
            <a:avLst>
              <a:gd name="adj" fmla="val 6148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09653" y="1819989"/>
            <a:ext cx="121920" cy="23798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60268" y="1820108"/>
            <a:ext cx="3590330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3. No Self-Hostable Alternative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799003" y="2895362"/>
            <a:ext cx="3590330" cy="10204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Existing tools are cloud-only SaaS (Credo AI, OneTrust) — unaffordable for SMEs</a:t>
            </a:r>
            <a:endParaRPr lang="en-US" sz="1750" dirty="0"/>
          </a:p>
        </p:txBody>
      </p:sp>
      <p:sp>
        <p:nvSpPr>
          <p:cNvPr id="15" name="Shape 10"/>
          <p:cNvSpPr/>
          <p:nvPr>
            <p:custDataLst>
              <p:tags r:id="rId9"/>
            </p:custDataLst>
          </p:nvPr>
        </p:nvSpPr>
        <p:spPr>
          <a:xfrm>
            <a:off x="793790" y="4426625"/>
            <a:ext cx="4196358" cy="2039660"/>
          </a:xfrm>
          <a:prstGeom prst="roundRect">
            <a:avLst>
              <a:gd name="adj" fmla="val 7173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63310" y="4426625"/>
            <a:ext cx="121920" cy="2039660"/>
          </a:xfrm>
          <a:prstGeom prst="rect">
            <a:avLst/>
          </a:prstGeom>
        </p:spPr>
      </p:pic>
      <p:sp>
        <p:nvSpPr>
          <p:cNvPr id="17" name="Text 11"/>
          <p:cNvSpPr/>
          <p:nvPr>
            <p:custDataLst>
              <p:tags r:id="rId11"/>
            </p:custDataLst>
          </p:nvPr>
        </p:nvSpPr>
        <p:spPr>
          <a:xfrm>
            <a:off x="1142524" y="4683919"/>
            <a:ext cx="3590330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4. Manual, Error-Prone Audits</a:t>
            </a:r>
            <a:endParaRPr lang="en-US" sz="2200" dirty="0"/>
          </a:p>
        </p:txBody>
      </p:sp>
      <p:sp>
        <p:nvSpPr>
          <p:cNvPr id="18" name="Text 12"/>
          <p:cNvSpPr/>
          <p:nvPr>
            <p:custDataLst>
              <p:tags r:id="rId12"/>
            </p:custDataLst>
          </p:nvPr>
        </p:nvSpPr>
        <p:spPr>
          <a:xfrm>
            <a:off x="1142524" y="5528667"/>
            <a:ext cx="3590330" cy="6803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Time-consuming, inconsistent, not repeatable</a:t>
            </a:r>
            <a:endParaRPr lang="en-US" sz="1750" dirty="0"/>
          </a:p>
        </p:txBody>
      </p:sp>
      <p:sp>
        <p:nvSpPr>
          <p:cNvPr id="19" name="Shape 13"/>
          <p:cNvSpPr/>
          <p:nvPr>
            <p:custDataLst>
              <p:tags r:id="rId13"/>
            </p:custDataLst>
          </p:nvPr>
        </p:nvSpPr>
        <p:spPr>
          <a:xfrm>
            <a:off x="5216962" y="4426625"/>
            <a:ext cx="4196358" cy="2039660"/>
          </a:xfrm>
          <a:prstGeom prst="roundRect">
            <a:avLst>
              <a:gd name="adj" fmla="val 7173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5186482" y="4426625"/>
            <a:ext cx="121920" cy="2039660"/>
          </a:xfrm>
          <a:prstGeom prst="rect">
            <a:avLst/>
          </a:prstGeom>
        </p:spPr>
      </p:pic>
      <p:sp>
        <p:nvSpPr>
          <p:cNvPr id="21" name="Text 14"/>
          <p:cNvSpPr/>
          <p:nvPr>
            <p:custDataLst>
              <p:tags r:id="rId15"/>
            </p:custDataLst>
          </p:nvPr>
        </p:nvSpPr>
        <p:spPr>
          <a:xfrm>
            <a:off x="5565696" y="4683919"/>
            <a:ext cx="3590330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5. No Built-In AI Safety Evaluation</a:t>
            </a:r>
            <a:endParaRPr lang="en-US" sz="2200" dirty="0"/>
          </a:p>
        </p:txBody>
      </p:sp>
      <p:sp>
        <p:nvSpPr>
          <p:cNvPr id="22" name="Text 15"/>
          <p:cNvSpPr/>
          <p:nvPr>
            <p:custDataLst>
              <p:tags r:id="rId16"/>
            </p:custDataLst>
          </p:nvPr>
        </p:nvSpPr>
        <p:spPr>
          <a:xfrm>
            <a:off x="5565696" y="5528667"/>
            <a:ext cx="3590330" cy="6803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 integrated LLM benchmarking, bias detection, or AI code scanning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1133951" y="6976586"/>
            <a:ext cx="12702659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i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There is a need for a comprehensive, self-hostable AI governance platform.</a:t>
            </a:r>
            <a:endParaRPr lang="en-US" sz="1750" dirty="0"/>
          </a:p>
        </p:txBody>
      </p:sp>
      <p:sp>
        <p:nvSpPr>
          <p:cNvPr id="24" name="Shape 17"/>
          <p:cNvSpPr/>
          <p:nvPr/>
        </p:nvSpPr>
        <p:spPr>
          <a:xfrm>
            <a:off x="793790" y="6721435"/>
            <a:ext cx="30480" cy="850463"/>
          </a:xfrm>
          <a:prstGeom prst="rect">
            <a:avLst/>
          </a:prstGeom>
          <a:solidFill>
            <a:srgbClr val="95CCDA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1">
            <a:alphaModFix amt="20000"/>
          </a:blip>
          <a:stretch>
            <a:fillRect/>
          </a:stretch>
        </p:blipFill>
        <p:spPr>
          <a:xfrm>
            <a:off x="11240135" y="2213610"/>
            <a:ext cx="326390" cy="30226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1">
            <a:alphaModFix amt="20000"/>
          </a:blip>
          <a:stretch>
            <a:fillRect/>
          </a:stretch>
        </p:blipFill>
        <p:spPr>
          <a:xfrm>
            <a:off x="2037715" y="5077460"/>
            <a:ext cx="339725" cy="31496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1">
            <a:alphaModFix amt="20000"/>
          </a:blip>
          <a:stretch>
            <a:fillRect/>
          </a:stretch>
        </p:blipFill>
        <p:spPr>
          <a:xfrm>
            <a:off x="6979285" y="5063490"/>
            <a:ext cx="354965" cy="32893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1">
            <a:alphaModFix amt="20000"/>
          </a:blip>
          <a:stretch>
            <a:fillRect/>
          </a:stretch>
        </p:blipFill>
        <p:spPr>
          <a:xfrm>
            <a:off x="6789420" y="2213610"/>
            <a:ext cx="372110" cy="34417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1">
            <a:alphaModFix amt="20000"/>
          </a:blip>
          <a:stretch>
            <a:fillRect/>
          </a:stretch>
        </p:blipFill>
        <p:spPr>
          <a:xfrm>
            <a:off x="4239895" y="1965325"/>
            <a:ext cx="328930" cy="3041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80" y="792242"/>
            <a:ext cx="6633567" cy="6394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What Aegis.AI Set Out to Do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6280" y="1800939"/>
            <a:ext cx="6506647" cy="1862376"/>
          </a:xfrm>
          <a:prstGeom prst="roundRect">
            <a:avLst>
              <a:gd name="adj" fmla="val 461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49" y="2013109"/>
            <a:ext cx="613886" cy="61388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0" y="2181939"/>
            <a:ext cx="276225" cy="2762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8449" y="2811542"/>
            <a:ext cx="6082308" cy="639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Support EU AI Act, ISO 42001, ISO 27001, NIST AI RMF from one interface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407473" y="1800939"/>
            <a:ext cx="6506647" cy="1862376"/>
          </a:xfrm>
          <a:prstGeom prst="roundRect">
            <a:avLst>
              <a:gd name="adj" fmla="val 461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643" y="2013109"/>
            <a:ext cx="613886" cy="61388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8473" y="2181939"/>
            <a:ext cx="276225" cy="2762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619643" y="2811542"/>
            <a:ext cx="6082308" cy="639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AI Model Inventory with risk assessment &amp; version tracking</a:t>
            </a:r>
            <a:endParaRPr lang="en-US" sz="2000" dirty="0"/>
          </a:p>
        </p:txBody>
      </p:sp>
      <p:sp>
        <p:nvSpPr>
          <p:cNvPr id="11" name="Shape 5"/>
          <p:cNvSpPr/>
          <p:nvPr/>
        </p:nvSpPr>
        <p:spPr>
          <a:xfrm>
            <a:off x="716280" y="3847862"/>
            <a:ext cx="6506647" cy="1542574"/>
          </a:xfrm>
          <a:prstGeom prst="roundRect">
            <a:avLst>
              <a:gd name="adj" fmla="val 557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449" y="4060031"/>
            <a:ext cx="613886" cy="613886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7280" y="4228862"/>
            <a:ext cx="276225" cy="2762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28449" y="4858464"/>
            <a:ext cx="5641777" cy="319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AI Advisor — LLM-powered governance chatbot</a:t>
            </a:r>
            <a:endParaRPr lang="en-US" sz="2000" dirty="0"/>
          </a:p>
        </p:txBody>
      </p:sp>
      <p:sp>
        <p:nvSpPr>
          <p:cNvPr id="15" name="Shape 7"/>
          <p:cNvSpPr/>
          <p:nvPr/>
        </p:nvSpPr>
        <p:spPr>
          <a:xfrm>
            <a:off x="7407473" y="3847862"/>
            <a:ext cx="6506647" cy="1542574"/>
          </a:xfrm>
          <a:prstGeom prst="roundRect">
            <a:avLst>
              <a:gd name="adj" fmla="val 557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9643" y="4060031"/>
            <a:ext cx="613886" cy="613886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8473" y="4228862"/>
            <a:ext cx="276225" cy="27622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619643" y="4858464"/>
            <a:ext cx="5865614" cy="319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LLM Evaluations &amp; Arena for model benchmarking</a:t>
            </a:r>
            <a:endParaRPr lang="en-US" sz="2000" dirty="0"/>
          </a:p>
        </p:txBody>
      </p:sp>
      <p:sp>
        <p:nvSpPr>
          <p:cNvPr id="19" name="Shape 9"/>
          <p:cNvSpPr/>
          <p:nvPr/>
        </p:nvSpPr>
        <p:spPr>
          <a:xfrm>
            <a:off x="716280" y="5574983"/>
            <a:ext cx="6506647" cy="1862376"/>
          </a:xfrm>
          <a:prstGeom prst="roundRect">
            <a:avLst>
              <a:gd name="adj" fmla="val 461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449" y="5787152"/>
            <a:ext cx="613886" cy="613886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7280" y="5955983"/>
            <a:ext cx="276225" cy="276225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928449" y="6585585"/>
            <a:ext cx="6082308" cy="639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AI Detection Module — scan GitHub repos for AI-generated code</a:t>
            </a:r>
            <a:endParaRPr lang="en-US" sz="2000" dirty="0"/>
          </a:p>
        </p:txBody>
      </p:sp>
      <p:sp>
        <p:nvSpPr>
          <p:cNvPr id="23" name="Shape 11"/>
          <p:cNvSpPr/>
          <p:nvPr/>
        </p:nvSpPr>
        <p:spPr>
          <a:xfrm>
            <a:off x="7407473" y="5574983"/>
            <a:ext cx="6506647" cy="1862376"/>
          </a:xfrm>
          <a:prstGeom prst="roundRect">
            <a:avLst>
              <a:gd name="adj" fmla="val 461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19643" y="5787152"/>
            <a:ext cx="613886" cy="613886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88473" y="5955983"/>
            <a:ext cx="276225" cy="276225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7619643" y="6585585"/>
            <a:ext cx="6082308" cy="639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Multi-tenancy with complete per-tenant data isolation</a:t>
            </a:r>
            <a:endParaRPr lang="en-US" sz="2000" dirty="0"/>
          </a:p>
        </p:txBody>
      </p:sp>
      <p:sp>
        <p:nvSpPr>
          <p:cNvPr id="27" name="Rounded Rectangle 26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188" y="1002506"/>
            <a:ext cx="4762262" cy="5953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Who Is Aegis.AI For?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73973" y="1934766"/>
            <a:ext cx="2857381" cy="3571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95CCDA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Customers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2950" y="2514600"/>
            <a:ext cx="6339840" cy="2044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20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🏭</a:t>
            </a:r>
            <a:r>
              <a:rPr lang="en-US" sz="20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  Technology companies needing EU AI Act compliance</a:t>
            </a:r>
          </a:p>
          <a:p>
            <a:pPr marL="0" indent="0" algn="l">
              <a:lnSpc>
                <a:spcPts val="2050"/>
              </a:lnSpc>
              <a:buSzPct val="100000"/>
              <a:buNone/>
            </a:pPr>
            <a:endParaRPr lang="en-US" sz="1450" dirty="0"/>
          </a:p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20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🏥</a:t>
            </a:r>
            <a:r>
              <a:rPr lang="en-US" sz="20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  Enterprises in finance, healthcare, manufacturing, public sector</a:t>
            </a:r>
          </a:p>
          <a:p>
            <a:pPr marL="0" indent="0" algn="l">
              <a:lnSpc>
                <a:spcPts val="2050"/>
              </a:lnSpc>
              <a:buSzPct val="100000"/>
              <a:buNone/>
            </a:pPr>
            <a:endParaRPr lang="en-US" sz="1450" dirty="0"/>
          </a:p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20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🏛️</a:t>
            </a:r>
            <a:r>
              <a:rPr lang="en-US" sz="20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Government bodies requiring AI transparency and oversight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53231" y="1991916"/>
            <a:ext cx="2857381" cy="3571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5CCDA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Stakeholders</a:t>
            </a:r>
          </a:p>
        </p:txBody>
      </p:sp>
      <p:sp>
        <p:nvSpPr>
          <p:cNvPr id="6" name="Shape 4"/>
          <p:cNvSpPr/>
          <p:nvPr/>
        </p:nvSpPr>
        <p:spPr>
          <a:xfrm>
            <a:off x="7555111" y="2534722"/>
            <a:ext cx="6339721" cy="3623191"/>
          </a:xfrm>
          <a:prstGeom prst="roundRect">
            <a:avLst>
              <a:gd name="adj" fmla="val 220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62731" y="2542342"/>
            <a:ext cx="6324481" cy="46994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53231" y="2645926"/>
            <a:ext cx="2777609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Role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919222" y="2645926"/>
            <a:ext cx="2777609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Description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562731" y="3012281"/>
            <a:ext cx="6324481" cy="469940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53231" y="3115866"/>
            <a:ext cx="2777609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Admin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919222" y="3115866"/>
            <a:ext cx="2777609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Full platform control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562731" y="3482221"/>
            <a:ext cx="6324481" cy="46994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53231" y="3585805"/>
            <a:ext cx="2777609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Editor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919222" y="3585805"/>
            <a:ext cx="2777609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Day-to-day governance work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562731" y="3952161"/>
            <a:ext cx="6324481" cy="732711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53231" y="4055745"/>
            <a:ext cx="2777609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Reviewer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919222" y="4055745"/>
            <a:ext cx="2777609" cy="5255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Reviews submissions, approves/rejects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562731" y="4684871"/>
            <a:ext cx="6324481" cy="732711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53231" y="4788456"/>
            <a:ext cx="2777609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Auditor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919222" y="4788456"/>
            <a:ext cx="2777609" cy="5255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Read-only; generates compliance reports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62731" y="5417582"/>
            <a:ext cx="6324481" cy="732711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53231" y="5521166"/>
            <a:ext cx="2777609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System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919222" y="5521166"/>
            <a:ext cx="2777609" cy="5255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Background jobs (PMM, automation, email)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73735" y="7394575"/>
            <a:ext cx="10245090" cy="709295"/>
          </a:xfrm>
          <a:prstGeom prst="roundRect">
            <a:avLst>
              <a:gd name="adj" fmla="val 11280"/>
            </a:avLst>
          </a:prstGeom>
          <a:solidFill>
            <a:srgbClr val="C6E4EB"/>
          </a:solidFill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54" y="7635399"/>
            <a:ext cx="238006" cy="19038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33331" y="7562691"/>
            <a:ext cx="12334875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Platform is self-hosted — suitable for data sovereignty and air-gapped environments.</a:t>
            </a:r>
            <a:endParaRPr lang="en-US" sz="1450" dirty="0"/>
          </a:p>
        </p:txBody>
      </p:sp>
      <p:sp>
        <p:nvSpPr>
          <p:cNvPr id="28" name="Rounded Rectangle 27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742950" y="1712595"/>
            <a:ext cx="4762500" cy="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73735" y="2319655"/>
            <a:ext cx="1616075" cy="0"/>
          </a:xfrm>
          <a:prstGeom prst="line">
            <a:avLst/>
          </a:prstGeom>
          <a:ln w="6350" cap="flat" cmpd="sng" algn="ctr">
            <a:solidFill>
              <a:schemeClr val="accent5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7753350" y="2349500"/>
            <a:ext cx="1616075" cy="0"/>
          </a:xfrm>
          <a:prstGeom prst="line">
            <a:avLst/>
          </a:prstGeom>
          <a:ln w="6350" cap="flat" cmpd="sng" algn="ctr">
            <a:solidFill>
              <a:schemeClr val="accent5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54378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2950" y="4829810"/>
            <a:ext cx="5398770" cy="2440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661" y="915353"/>
            <a:ext cx="10508456" cy="641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How Aegis.AI Compares to Existing Solutions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8661" y="1928813"/>
            <a:ext cx="13193078" cy="5385435"/>
          </a:xfrm>
          <a:prstGeom prst="roundRect">
            <a:avLst>
              <a:gd name="adj" fmla="val 160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6281" y="1936433"/>
            <a:ext cx="13180457" cy="53149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1783" y="2055495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Feature</a:t>
            </a:r>
          </a:p>
        </p:txBody>
      </p:sp>
      <p:sp>
        <p:nvSpPr>
          <p:cNvPr id="6" name="Text 4"/>
          <p:cNvSpPr/>
          <p:nvPr/>
        </p:nvSpPr>
        <p:spPr>
          <a:xfrm>
            <a:off x="3132296" y="205549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Credo AI</a:t>
            </a:r>
          </a:p>
        </p:txBody>
      </p:sp>
      <p:sp>
        <p:nvSpPr>
          <p:cNvPr id="7" name="Text 5"/>
          <p:cNvSpPr/>
          <p:nvPr/>
        </p:nvSpPr>
        <p:spPr>
          <a:xfrm>
            <a:off x="5328999" y="205549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IBM OpenScale</a:t>
            </a:r>
          </a:p>
        </p:txBody>
      </p:sp>
      <p:sp>
        <p:nvSpPr>
          <p:cNvPr id="8" name="Text 6"/>
          <p:cNvSpPr/>
          <p:nvPr/>
        </p:nvSpPr>
        <p:spPr>
          <a:xfrm>
            <a:off x="7525703" y="205549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Holistic AI</a:t>
            </a:r>
          </a:p>
        </p:txBody>
      </p:sp>
      <p:sp>
        <p:nvSpPr>
          <p:cNvPr id="9" name="Text 7"/>
          <p:cNvSpPr/>
          <p:nvPr/>
        </p:nvSpPr>
        <p:spPr>
          <a:xfrm>
            <a:off x="9722406" y="205549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OneTrust AI</a:t>
            </a:r>
          </a:p>
        </p:txBody>
      </p:sp>
      <p:sp>
        <p:nvSpPr>
          <p:cNvPr id="10" name="Text 8"/>
          <p:cNvSpPr/>
          <p:nvPr/>
        </p:nvSpPr>
        <p:spPr>
          <a:xfrm>
            <a:off x="11919109" y="2055495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chemeClr val="accent6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Aegis.AI</a:t>
            </a:r>
          </a:p>
        </p:txBody>
      </p:sp>
      <p:sp>
        <p:nvSpPr>
          <p:cNvPr id="11" name="Shape 9"/>
          <p:cNvSpPr/>
          <p:nvPr/>
        </p:nvSpPr>
        <p:spPr>
          <a:xfrm>
            <a:off x="726281" y="2467928"/>
            <a:ext cx="13180457" cy="531495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1783" y="2586990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EU AI Act Support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32296" y="258699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28999" y="258699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25703" y="258699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22406" y="258699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19109" y="2586990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6281" y="2999423"/>
            <a:ext cx="13180457" cy="53149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1783" y="3118485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ISO 42001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32296" y="311848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Partial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28999" y="311848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25703" y="311848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Partial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22406" y="311848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919109" y="3118485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6281" y="3530918"/>
            <a:ext cx="13180457" cy="531495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1783" y="3649980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ISO 27001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132296" y="364998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28999" y="364998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25703" y="364998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22406" y="364998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919109" y="3649980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6281" y="4062413"/>
            <a:ext cx="13180457" cy="53149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31783" y="4181475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NIST AI RMF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132296" y="418147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28999" y="418147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Partial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25703" y="418147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Partial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722406" y="418147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Partial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919109" y="4181475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6281" y="4593908"/>
            <a:ext cx="13180457" cy="531495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31783" y="4712970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LLM Evaluations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132296" y="471297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28999" y="471297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Partial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25703" y="471297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22406" y="471297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919109" y="4712970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26281" y="5125403"/>
            <a:ext cx="13180457" cy="82486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31783" y="5244465"/>
            <a:ext cx="1782366" cy="586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AI Detection Module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132296" y="524446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28999" y="524446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25703" y="524446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722406" y="524446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919109" y="5244465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26281" y="5950268"/>
            <a:ext cx="13180457" cy="824865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31783" y="6069330"/>
            <a:ext cx="1782366" cy="586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On-Premises Deploy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132296" y="606933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28999" y="606933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525703" y="606933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722406" y="6069330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919109" y="6069330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26281" y="6775133"/>
            <a:ext cx="13180457" cy="53149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31783" y="6894195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Multi-Tenancy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132296" y="689419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328999" y="689419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525703" y="689419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722406" y="6894195"/>
            <a:ext cx="177855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919109" y="6894195"/>
            <a:ext cx="1782366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endParaRPr lang="en-US" sz="1600" dirty="0"/>
          </a:p>
        </p:txBody>
      </p:sp>
      <p:sp>
        <p:nvSpPr>
          <p:cNvPr id="67" name="Rounded Rectangle 66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68" name="5-Point Star 67"/>
          <p:cNvSpPr/>
          <p:nvPr/>
        </p:nvSpPr>
        <p:spPr>
          <a:xfrm>
            <a:off x="3810000" y="3118485"/>
            <a:ext cx="276225" cy="293370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69" name="5-Point Star 68"/>
          <p:cNvSpPr/>
          <p:nvPr/>
        </p:nvSpPr>
        <p:spPr>
          <a:xfrm>
            <a:off x="6080125" y="4181475"/>
            <a:ext cx="276225" cy="293370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70" name="5-Point Star 69"/>
          <p:cNvSpPr/>
          <p:nvPr/>
        </p:nvSpPr>
        <p:spPr>
          <a:xfrm>
            <a:off x="6080125" y="4712970"/>
            <a:ext cx="276225" cy="293370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71" name="5-Point Star 70"/>
          <p:cNvSpPr/>
          <p:nvPr/>
        </p:nvSpPr>
        <p:spPr>
          <a:xfrm>
            <a:off x="8162925" y="3118485"/>
            <a:ext cx="276225" cy="293370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72" name="5-Point Star 71"/>
          <p:cNvSpPr/>
          <p:nvPr/>
        </p:nvSpPr>
        <p:spPr>
          <a:xfrm>
            <a:off x="8162925" y="4181475"/>
            <a:ext cx="276225" cy="293370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74" name="5-Point Star 73"/>
          <p:cNvSpPr/>
          <p:nvPr/>
        </p:nvSpPr>
        <p:spPr>
          <a:xfrm>
            <a:off x="10375265" y="4181475"/>
            <a:ext cx="276225" cy="293370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0131" y="759738"/>
            <a:ext cx="8367474" cy="5674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Technical Architecture — PERN + Python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131" y="1617940"/>
            <a:ext cx="4176712" cy="7262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1702" y="2489597"/>
            <a:ext cx="2953822" cy="2837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React + TypeScript Frontend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231702" y="2860477"/>
            <a:ext cx="3813572" cy="245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Material UI, React Router, Zustand state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844" y="1617940"/>
            <a:ext cx="4176712" cy="7262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08414" y="2489597"/>
            <a:ext cx="2790944" cy="2837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Node.js + Express Backend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408414" y="2860477"/>
            <a:ext cx="3813572" cy="4902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Clean Architecture, Repository Pattern, Sequelize ORM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3556" y="1617940"/>
            <a:ext cx="4176712" cy="7262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85127" y="2489597"/>
            <a:ext cx="2269927" cy="2837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PostgreSQL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585127" y="2860477"/>
            <a:ext cx="3813572" cy="245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Schema-per-Tenant + Redis (BullMQ)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050131" y="3695819"/>
            <a:ext cx="6192322" cy="1024890"/>
          </a:xfrm>
          <a:prstGeom prst="roundRect">
            <a:avLst>
              <a:gd name="adj" fmla="val 7442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1254562" y="3900249"/>
            <a:ext cx="2269927" cy="2837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Frontend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254562" y="4271129"/>
            <a:ext cx="5783461" cy="245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React 18, TypeScript, Material UI, Zustand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7387828" y="3695819"/>
            <a:ext cx="6192441" cy="1024890"/>
          </a:xfrm>
          <a:prstGeom prst="roundRect">
            <a:avLst>
              <a:gd name="adj" fmla="val 7442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7592258" y="3900249"/>
            <a:ext cx="2269927" cy="2837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Backend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592258" y="4271129"/>
            <a:ext cx="5783580" cy="245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Node.js, Express.js, TypeScript, Sequelize ORM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1050131" y="4866084"/>
            <a:ext cx="6192322" cy="1024890"/>
          </a:xfrm>
          <a:prstGeom prst="roundRect">
            <a:avLst>
              <a:gd name="adj" fmla="val 7442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1254562" y="5070515"/>
            <a:ext cx="2269927" cy="2837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Database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1254562" y="5441394"/>
            <a:ext cx="5783461" cy="245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PostgreSQL (schema-per-tenant multi-tenancy) + Redis</a:t>
            </a: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7387828" y="4866084"/>
            <a:ext cx="6192441" cy="1024890"/>
          </a:xfrm>
          <a:prstGeom prst="roundRect">
            <a:avLst>
              <a:gd name="adj" fmla="val 7442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592258" y="5070515"/>
            <a:ext cx="2269927" cy="2837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Evaluation Server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7592258" y="5441394"/>
            <a:ext cx="5783580" cy="245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Python, FastAPI, DeepEval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1050131" y="6036350"/>
            <a:ext cx="6192322" cy="1024890"/>
          </a:xfrm>
          <a:prstGeom prst="roundRect">
            <a:avLst>
              <a:gd name="adj" fmla="val 7442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1254562" y="6240780"/>
            <a:ext cx="2269927" cy="2837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Auth</a:t>
            </a:r>
            <a:endParaRPr lang="en-US" sz="1750" dirty="0"/>
          </a:p>
        </p:txBody>
      </p:sp>
      <p:sp>
        <p:nvSpPr>
          <p:cNvPr id="26" name="Text 21"/>
          <p:cNvSpPr/>
          <p:nvPr/>
        </p:nvSpPr>
        <p:spPr>
          <a:xfrm>
            <a:off x="1254562" y="6611660"/>
            <a:ext cx="5783461" cy="245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JWT + RBAC (4 roles: Admin, Editor, Reviewer, Auditor)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7387828" y="6036350"/>
            <a:ext cx="6192441" cy="1024890"/>
          </a:xfrm>
          <a:prstGeom prst="roundRect">
            <a:avLst>
              <a:gd name="adj" fmla="val 7442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7592258" y="6240780"/>
            <a:ext cx="2269927" cy="2837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Deployment</a:t>
            </a:r>
            <a:endParaRPr lang="en-US" sz="1750" dirty="0"/>
          </a:p>
        </p:txBody>
      </p:sp>
      <p:sp>
        <p:nvSpPr>
          <p:cNvPr id="29" name="Text 24"/>
          <p:cNvSpPr/>
          <p:nvPr/>
        </p:nvSpPr>
        <p:spPr>
          <a:xfrm>
            <a:off x="7603688" y="6611660"/>
            <a:ext cx="5783580" cy="245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Docker Compose + Kubernetes</a:t>
            </a:r>
            <a:endParaRPr lang="en-US" sz="1600" dirty="0"/>
          </a:p>
        </p:txBody>
      </p:sp>
      <p:sp>
        <p:nvSpPr>
          <p:cNvPr id="31" name="Rounded Rectangle 30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537" y="533043"/>
            <a:ext cx="4846796" cy="6057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External Integrations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8537" y="1470184"/>
            <a:ext cx="13273326" cy="2695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i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All integrations are optional &amp; modular — platform runs fully offline if needed.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" y="2223770"/>
            <a:ext cx="9516110" cy="53117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15" y="2399030"/>
            <a:ext cx="9637395" cy="537908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595217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Product Backlog — 58 User Stories | 20 EPICs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836176"/>
            <a:ext cx="1903214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43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402449" y="1309568"/>
            <a:ext cx="1903214" cy="354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FYP 1 (Phase 1) — Total User Stories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76505" y="836176"/>
            <a:ext cx="1903214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15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76505" y="1309568"/>
            <a:ext cx="1903214" cy="354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FYP 2 (Future) — Total User Stories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50562" y="836176"/>
            <a:ext cx="1903214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58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7593330" y="1309568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Total User Stories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4618" y="836176"/>
            <a:ext cx="1903333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230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324618" y="1309568"/>
            <a:ext cx="1903333" cy="354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FYP 1 (Phase 1) — Story Points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76505" y="1833920"/>
            <a:ext cx="1903214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114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5376505" y="2307312"/>
            <a:ext cx="1903214" cy="354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FYP 2 (Future) — Story Points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50562" y="1833920"/>
            <a:ext cx="1903214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344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7593330" y="2307312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Total Story Points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329" y="2831486"/>
            <a:ext cx="7825740" cy="434534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848725" y="4284980"/>
            <a:ext cx="2985770" cy="660400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1655" y="4532327"/>
            <a:ext cx="123565" cy="1235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24315" y="4563110"/>
            <a:ext cx="1600835" cy="1612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dirty="0">
                <a:solidFill>
                  <a:srgbClr val="384653"/>
                </a:solidFill>
              </a:rPr>
              <a:t>Done·74.14%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10428068" y="4532874"/>
            <a:ext cx="540111" cy="160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dirty="0">
                <a:solidFill>
                  <a:srgbClr val="384653"/>
                </a:solidFill>
              </a:rPr>
              <a:t>·74.14%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9462732" y="4694164"/>
            <a:ext cx="35073" cy="160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</a:rPr>
              <a:t>·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8849360" y="4968240"/>
            <a:ext cx="2986405" cy="718185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1655" y="5240914"/>
            <a:ext cx="123565" cy="1235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24420" y="5240827"/>
            <a:ext cx="990446" cy="160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dirty="0">
                <a:solidFill>
                  <a:srgbClr val="384653"/>
                </a:solidFill>
              </a:rPr>
              <a:t>Planned·25.86%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10687909" y="5240827"/>
            <a:ext cx="540112" cy="160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dirty="0">
                <a:solidFill>
                  <a:srgbClr val="384653"/>
                </a:solidFill>
              </a:rPr>
              <a:t>·25.86%</a:t>
            </a: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9627323" y="5080172"/>
            <a:ext cx="35074" cy="160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</a:rPr>
              <a:t>·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231140" y="2672715"/>
            <a:ext cx="7825740" cy="3117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74%</a:t>
            </a: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(43 stories) Done — </a:t>
            </a:r>
            <a:r>
              <a:rPr lang="en-US" sz="1600" dirty="0">
                <a:solidFill>
                  <a:srgbClr val="95CCD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Green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231259" y="3076972"/>
            <a:ext cx="7825502" cy="127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26%</a:t>
            </a: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(15 stories) Planned — </a:t>
            </a:r>
            <a:r>
              <a:rPr lang="en-US" sz="1600" dirty="0">
                <a:solidFill>
                  <a:srgbClr val="C3643D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Amber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231259" y="4030663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dirty="0">
                <a:solidFill>
                  <a:srgbClr val="95CCDA"/>
                </a:solidFill>
                <a:latin typeface="Segoe UI Black" panose="020B0A02040204020203" charset="0"/>
                <a:ea typeface="Host Grotesk Medium" panose="020B0504030402000203" pitchFamily="34" charset="-122"/>
                <a:cs typeface="Segoe UI Black" panose="020B0A02040204020203" charset="0"/>
              </a:rPr>
              <a:t>Epic highlight bullets:</a:t>
            </a:r>
          </a:p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231140" y="4532630"/>
            <a:ext cx="7825740" cy="1949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User Management &amp; RBAC </a:t>
            </a: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endParaRPr lang="en-US" sz="1600" dirty="0">
              <a:solidFill>
                <a:srgbClr val="000000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endParaRPr lang="en-US" sz="1600" dirty="0"/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Multi-Tenancy &amp; Org Management </a:t>
            </a: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endParaRPr lang="en-US" sz="1600" dirty="0"/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Approval Workflows </a:t>
            </a: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endParaRPr lang="en-US" sz="1600" dirty="0">
              <a:solidFill>
                <a:srgbClr val="000000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endParaRPr lang="en-US" sz="1600" dirty="0"/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Framework Management (EU AI Act, </a:t>
            </a: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endParaRPr lang="en-US" sz="1600" dirty="0">
              <a:solidFill>
                <a:srgbClr val="384653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ISO 42001, ISO 27001,</a:t>
            </a: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endParaRPr lang="en-US" sz="1600" dirty="0">
              <a:solidFill>
                <a:srgbClr val="384653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NIST AI RMF) </a:t>
            </a: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endParaRPr lang="en-US" sz="1600" dirty="0">
              <a:solidFill>
                <a:srgbClr val="000000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endParaRPr lang="en-US" sz="1600" dirty="0"/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Risk, Vendor, Policy, Model Inventory </a:t>
            </a: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endParaRPr lang="en-US" sz="1600" dirty="0">
              <a:solidFill>
                <a:srgbClr val="000000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endParaRPr lang="en-US" sz="1600" dirty="0">
              <a:solidFill>
                <a:srgbClr val="000000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endParaRPr lang="en-US" sz="1600" dirty="0"/>
          </a:p>
          <a:p>
            <a:pPr marL="285750" indent="-285750" algn="l">
              <a:lnSpc>
                <a:spcPts val="1000"/>
              </a:lnSpc>
              <a:buSzPct val="100000"/>
              <a:buFont typeface="Wingdings" panose="05000000000000000000" charset="0"/>
              <a:buChar char="§"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LLM Evaluations, AI Advisor, AI Detection </a:t>
            </a:r>
            <a:r>
              <a:rPr lang="en-US" sz="1600" i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(Planned)</a:t>
            </a:r>
            <a:endParaRPr lang="en-US" sz="1600" dirty="0"/>
          </a:p>
        </p:txBody>
      </p:sp>
      <p:sp>
        <p:nvSpPr>
          <p:cNvPr id="30" name="Rounded Rectangle 29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684" y="1330166"/>
            <a:ext cx="11316057" cy="5637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9 Sprints | 5 Months | November 2025 — March 2026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1091684" y="2180749"/>
            <a:ext cx="12447032" cy="4314587"/>
          </a:xfrm>
          <a:prstGeom prst="roundRect">
            <a:avLst>
              <a:gd name="adj" fmla="val 175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9304" y="2188369"/>
            <a:ext cx="12431792" cy="42993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79922" y="2281952"/>
            <a:ext cx="1500188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Sprint</a:t>
            </a:r>
          </a:p>
        </p:txBody>
      </p:sp>
      <p:sp>
        <p:nvSpPr>
          <p:cNvPr id="6" name="Text 4"/>
          <p:cNvSpPr/>
          <p:nvPr/>
        </p:nvSpPr>
        <p:spPr>
          <a:xfrm>
            <a:off x="3148489" y="2281952"/>
            <a:ext cx="211788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Dates</a:t>
            </a:r>
          </a:p>
        </p:txBody>
      </p:sp>
      <p:sp>
        <p:nvSpPr>
          <p:cNvPr id="7" name="Text 5"/>
          <p:cNvSpPr/>
          <p:nvPr/>
        </p:nvSpPr>
        <p:spPr>
          <a:xfrm>
            <a:off x="5634752" y="2281952"/>
            <a:ext cx="3982641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Goal</a:t>
            </a:r>
          </a:p>
        </p:txBody>
      </p:sp>
      <p:sp>
        <p:nvSpPr>
          <p:cNvPr id="8" name="Text 6"/>
          <p:cNvSpPr/>
          <p:nvPr/>
        </p:nvSpPr>
        <p:spPr>
          <a:xfrm>
            <a:off x="9985772" y="2281952"/>
            <a:ext cx="336494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Segoe UI Black" panose="020B0A02040204020203" charset="0"/>
                <a:ea typeface="Roboto" panose="02000000000000000000" pitchFamily="34" charset="-122"/>
                <a:cs typeface="Segoe UI Black" panose="020B0A02040204020203" charset="0"/>
              </a:rPr>
              <a:t>Scrum Master</a:t>
            </a:r>
          </a:p>
        </p:txBody>
      </p:sp>
      <p:sp>
        <p:nvSpPr>
          <p:cNvPr id="9" name="Shape 7"/>
          <p:cNvSpPr/>
          <p:nvPr/>
        </p:nvSpPr>
        <p:spPr>
          <a:xfrm>
            <a:off x="1099304" y="2618303"/>
            <a:ext cx="12431792" cy="429935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79922" y="2711887"/>
            <a:ext cx="1500188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Sprint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48489" y="2711887"/>
            <a:ext cx="211788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Nov 15–28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34752" y="2711887"/>
            <a:ext cx="3982641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Foundation &amp; Authentication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985772" y="2711887"/>
            <a:ext cx="336494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B0F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Muhmmad Haris</a:t>
            </a:r>
          </a:p>
        </p:txBody>
      </p:sp>
      <p:sp>
        <p:nvSpPr>
          <p:cNvPr id="14" name="Shape 12"/>
          <p:cNvSpPr/>
          <p:nvPr/>
        </p:nvSpPr>
        <p:spPr>
          <a:xfrm>
            <a:off x="1099304" y="3048238"/>
            <a:ext cx="12431792" cy="42993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79922" y="3141821"/>
            <a:ext cx="1500188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48489" y="3141821"/>
            <a:ext cx="211788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Dec 1–14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34752" y="3141821"/>
            <a:ext cx="3982641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Multi-Tenancy &amp; Approvals &amp; SSE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985772" y="3141821"/>
            <a:ext cx="336494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3643D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Abdullah Ahmad Khan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9304" y="3478173"/>
            <a:ext cx="12431792" cy="429935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79922" y="3571756"/>
            <a:ext cx="1500188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Sprint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48489" y="3571756"/>
            <a:ext cx="211788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Dec 15–28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34752" y="3571756"/>
            <a:ext cx="3982641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EU AI Act Framework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85772" y="3571756"/>
            <a:ext cx="336494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chemeClr val="accent6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Farhana Minhas</a:t>
            </a:r>
          </a:p>
        </p:txBody>
      </p:sp>
      <p:sp>
        <p:nvSpPr>
          <p:cNvPr id="24" name="Shape 22"/>
          <p:cNvSpPr/>
          <p:nvPr/>
        </p:nvSpPr>
        <p:spPr>
          <a:xfrm>
            <a:off x="1099304" y="3908108"/>
            <a:ext cx="12431792" cy="42993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79922" y="4001691"/>
            <a:ext cx="1500188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Sprint 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48489" y="4001691"/>
            <a:ext cx="211788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Jan 2–15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34752" y="4001691"/>
            <a:ext cx="3982641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ISO 42001 &amp; ISO 27001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85772" y="4001691"/>
            <a:ext cx="336494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B0F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Muhammad Haris</a:t>
            </a:r>
          </a:p>
        </p:txBody>
      </p:sp>
      <p:sp>
        <p:nvSpPr>
          <p:cNvPr id="29" name="Shape 27"/>
          <p:cNvSpPr/>
          <p:nvPr/>
        </p:nvSpPr>
        <p:spPr>
          <a:xfrm>
            <a:off x="1099304" y="4338042"/>
            <a:ext cx="12431792" cy="429935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79922" y="4431625"/>
            <a:ext cx="1500188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Sprint 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148489" y="4431625"/>
            <a:ext cx="211788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Jan 16–29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34752" y="4431625"/>
            <a:ext cx="3982641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Risk Management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85772" y="4431625"/>
            <a:ext cx="336494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3643D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Ahmad Abdullah Khan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99304" y="4767977"/>
            <a:ext cx="12431792" cy="42993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79922" y="4861560"/>
            <a:ext cx="1500188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Sprint 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148489" y="4861560"/>
            <a:ext cx="211788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Feb 1–14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34752" y="4861560"/>
            <a:ext cx="3982641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Vendor, Policy, Tasks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985772" y="4861560"/>
            <a:ext cx="336494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chemeClr val="accent6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Farhana Minhas</a:t>
            </a:r>
          </a:p>
        </p:txBody>
      </p:sp>
      <p:sp>
        <p:nvSpPr>
          <p:cNvPr id="39" name="Shape 37"/>
          <p:cNvSpPr/>
          <p:nvPr/>
        </p:nvSpPr>
        <p:spPr>
          <a:xfrm>
            <a:off x="1099304" y="5197912"/>
            <a:ext cx="12431792" cy="429935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279922" y="5291495"/>
            <a:ext cx="1500188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Sprint 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148489" y="5291495"/>
            <a:ext cx="211788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Feb 15–28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634752" y="5291495"/>
            <a:ext cx="3982641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AI Model Inventory &amp; NIST AI RMF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985772" y="5291495"/>
            <a:ext cx="336494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B0F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Muhammad Haris</a:t>
            </a:r>
          </a:p>
        </p:txBody>
      </p:sp>
      <p:sp>
        <p:nvSpPr>
          <p:cNvPr id="44" name="Shape 42"/>
          <p:cNvSpPr/>
          <p:nvPr/>
        </p:nvSpPr>
        <p:spPr>
          <a:xfrm>
            <a:off x="1099304" y="5627846"/>
            <a:ext cx="12431792" cy="42993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279922" y="5721429"/>
            <a:ext cx="1500188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Sprint 8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148489" y="5721429"/>
            <a:ext cx="211788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Mar 1–7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634752" y="5721429"/>
            <a:ext cx="3982641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LLM Evals UI &amp; AI Advisor UI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985772" y="5721429"/>
            <a:ext cx="336494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3643D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Ahmad Abdullah Khan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099304" y="6057781"/>
            <a:ext cx="12431792" cy="429935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279922" y="6151364"/>
            <a:ext cx="1500188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Sprint 9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148489" y="6151364"/>
            <a:ext cx="211788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Mar 8–20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634752" y="6151364"/>
            <a:ext cx="3982641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Reporting, Evidence Hub, Search, AI Trust Center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985772" y="6151364"/>
            <a:ext cx="3364944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chemeClr val="accent6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Farhana Minhas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713" y="279400"/>
            <a:ext cx="5491043" cy="5260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Team Member Contributions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28650" y="1205230"/>
            <a:ext cx="4147185" cy="6271895"/>
          </a:xfrm>
          <a:prstGeom prst="roundRect">
            <a:avLst>
              <a:gd name="adj" fmla="val 186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2827" y="1381800"/>
            <a:ext cx="2525435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B0F0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🔵</a:t>
            </a:r>
            <a:r>
              <a:rPr lang="en-US" sz="19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 Muhammad Haris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66827" y="1822252"/>
            <a:ext cx="2906316" cy="2631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Core Infrastructure &amp; Backend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70890" y="2326640"/>
            <a:ext cx="3686810" cy="46393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Monorepo architecture setup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JWT authentication &amp; token refresh logic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Sequelize ORM &amp; database migrations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Approval Workflows engine (multi-step state machine)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Risk Management backend &amp; auto-scoring algorithm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Post-Market Monitoring (BullMQ scheduling)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Global Search (14 entity types + Command Palette)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Scrum Master: Sprints 1, 4, 7</a:t>
            </a:r>
            <a:endParaRPr lang="en-US" sz="16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74590" y="1205230"/>
            <a:ext cx="4215765" cy="6268085"/>
          </a:xfrm>
          <a:prstGeom prst="roundRect">
            <a:avLst>
              <a:gd name="adj" fmla="val 186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45683" y="1381800"/>
            <a:ext cx="2967038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accent2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🟠</a:t>
            </a:r>
            <a:r>
              <a:rPr lang="en-US" sz="19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 Ahmed Abdullah Khan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336818" y="1849557"/>
            <a:ext cx="3437215" cy="526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DevOps, Compliance &amp; Architecture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238115" y="2451100"/>
            <a:ext cx="3644900" cy="4676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Docker Compose &amp; Kubernetes manifests (8 manifests incl. HPA)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RBAC middleware (4-role permission system)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EU AI Act module (13 control categories, ~60 controls)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ISO 42001 (AIMS) &amp; ISO 27001 (ISMS) modules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NIST AI RMF (4 functions, ~70 subcategories)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AI Model Inventory backend + MLflow integration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SSE notification system with Redis Pub/Sub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DOCX report generation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Scrum Master: Sprints 2, 5, 8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334500" y="1205230"/>
            <a:ext cx="4319905" cy="6267450"/>
          </a:xfrm>
          <a:prstGeom prst="roundRect">
            <a:avLst>
              <a:gd name="adj" fmla="val 186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510593" y="1381800"/>
            <a:ext cx="2525435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accent6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🟣</a:t>
            </a:r>
            <a:r>
              <a:rPr lang="en-US" sz="19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 Farhana Minhas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706808" y="1822252"/>
            <a:ext cx="2463046" cy="2631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Frontend, UI/UX &amp; Testing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408795" y="2375535"/>
            <a:ext cx="3708400" cy="41471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React 18 component architecture (50+ pages)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Login, Registration, and Onboarding UI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Vendor Management &amp; Policy Manager UI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WatchTower Event Tracker frontend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Reporting &amp; PDF/DOCX export UI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Figma UI/UX prototypes (20 screens)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Test case documentation &amp; UAT execution</a:t>
            </a:r>
          </a:p>
          <a:p>
            <a:pPr indent="0" algn="l">
              <a:lnSpc>
                <a:spcPts val="1700"/>
              </a:lnSpc>
              <a:buSzPct val="100000"/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Scrum Master: Sprints 3, 6, 9</a:t>
            </a:r>
            <a:endParaRPr lang="en-US" sz="16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7703"/>
            <a:ext cx="858976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What We Built — Sprint by Sprint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482005" y="1611987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Sprints</a:t>
            </a:r>
            <a:endParaRPr lang="en-US" sz="265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551220" y="2256472"/>
            <a:ext cx="6244709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1–2</a:t>
            </a:r>
            <a:endParaRPr lang="en-US" sz="1750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551220" y="3228697"/>
            <a:ext cx="6244709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3–4</a:t>
            </a:r>
            <a:endParaRPr lang="en-US" sz="175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51220" y="4200922"/>
            <a:ext cx="6244709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5–6</a:t>
            </a:r>
            <a:endParaRPr lang="en-US" sz="175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551220" y="5247442"/>
            <a:ext cx="6244709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7–8</a:t>
            </a:r>
            <a:endParaRPr lang="en-US" sz="175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551220" y="6382861"/>
            <a:ext cx="6244709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9–10</a:t>
            </a:r>
            <a:endParaRPr lang="en-US" sz="175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551220" y="7347466"/>
            <a:ext cx="6244709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11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2762726" y="1606907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Key Deliverables</a:t>
            </a:r>
            <a:endParaRPr lang="en-US" sz="2650" dirty="0"/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2762726" y="2154872"/>
            <a:ext cx="6244709" cy="6803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Auth, RBAC, Multi-tenancy, Approval Workflows, SSE notifications</a:t>
            </a:r>
            <a:endParaRPr lang="en-US" sz="175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2762726" y="3217704"/>
            <a:ext cx="6244709" cy="6803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EU AI Act, ISO 42001, ISO 27001, NIST AI RMF compliance modules</a:t>
            </a:r>
            <a:endParaRPr lang="en-US" sz="175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2762726" y="4168140"/>
            <a:ext cx="6244709" cy="6803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Risk Management (auto-scoring), Vendor Management, Policy Manager, Tasks</a:t>
            </a:r>
            <a:endParaRPr lang="en-US" sz="175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2762726" y="5077936"/>
            <a:ext cx="6244709" cy="6803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AI Model Inventory, NIST framework completion, LLM Evals UI, AI Advisor UI</a:t>
            </a:r>
            <a:endParaRPr lang="en-US" sz="175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2762726" y="6294438"/>
            <a:ext cx="6244709" cy="6803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Reporting (PDF/DOCX), Evidence Hub, Global Search, AI Trust Center, WatchTower, Incidents</a:t>
            </a:r>
            <a:endParaRPr lang="en-US" sz="175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2762726" y="7434739"/>
            <a:ext cx="6244709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Post-Market Monitoring (PMM), Automation scaffolding</a:t>
            </a:r>
            <a:endParaRPr lang="en-US" sz="1750" dirty="0"/>
          </a:p>
        </p:txBody>
      </p:sp>
      <p:sp>
        <p:nvSpPr>
          <p:cNvPr id="17" name="Rounded Rectangle 16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graphicFrame>
        <p:nvGraphicFramePr>
          <p:cNvPr id="19" name="Table 18"/>
          <p:cNvGraphicFramePr/>
          <p:nvPr>
            <p:custDataLst>
              <p:tags r:id="rId13"/>
            </p:custDataLst>
          </p:nvPr>
        </p:nvGraphicFramePr>
        <p:xfrm>
          <a:off x="302260" y="1607185"/>
          <a:ext cx="8578850" cy="6773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579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9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9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29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36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29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4218" y="854035"/>
            <a:ext cx="4292679" cy="453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Sprint Velocity — Phase 1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2314218" y="1492329"/>
            <a:ext cx="1226977" cy="284272"/>
          </a:xfrm>
          <a:prstGeom prst="roundRect">
            <a:avLst>
              <a:gd name="adj" fmla="val 45033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70" y="1555478"/>
            <a:ext cx="157975" cy="157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17003" y="1531823"/>
            <a:ext cx="787199" cy="2052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</a:rPr>
              <a:t>Committed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646512" y="1492329"/>
            <a:ext cx="1098623" cy="284272"/>
          </a:xfrm>
          <a:prstGeom prst="roundRect">
            <a:avLst>
              <a:gd name="adj" fmla="val 45033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663" y="1555478"/>
            <a:ext cx="157975" cy="1579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04455" y="1531823"/>
            <a:ext cx="658433" cy="2052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</a:rPr>
              <a:t>Delivered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218" y="1908247"/>
            <a:ext cx="10005060" cy="52658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5788" y="7716877"/>
            <a:ext cx="10001845" cy="178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i="1" dirty="0">
                <a:solidFill>
                  <a:srgbClr val="95CCD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100% delivery rate — 230 total story points delivered across 9 sprints</a:t>
            </a:r>
            <a:endParaRPr lang="en-US" sz="2000" dirty="0"/>
          </a:p>
        </p:txBody>
      </p:sp>
      <p:sp>
        <p:nvSpPr>
          <p:cNvPr id="11" name="Rounded Rectangle 10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9360" y="1117283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Live Demo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50" y="2038985"/>
            <a:ext cx="10850245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🖥 </a:t>
            </a:r>
            <a:r>
              <a:rPr lang="en-US" sz="480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Switching to Live Application Demo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09360" y="3408085"/>
            <a:ext cx="13042821" cy="4251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Running locally at: http://localhost:5173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09360" y="4186833"/>
            <a:ext cx="13042821" cy="4251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Services active: Node.js Backend • React Frontend • PostgreSQL • Redis</a:t>
            </a:r>
            <a:endParaRPr lang="en-US" sz="2200" dirty="0"/>
          </a:p>
        </p:txBody>
      </p:sp>
      <p:sp>
        <p:nvSpPr>
          <p:cNvPr id="10" name="Rounded Rectangle 9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857" y="1342192"/>
            <a:ext cx="5179933" cy="5417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Testing Results — Phase 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33857" y="2215039"/>
            <a:ext cx="2600563" cy="325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UAT Summary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33857" y="2689146"/>
            <a:ext cx="5769769" cy="2032159"/>
          </a:xfrm>
          <a:prstGeom prst="roundRect">
            <a:avLst>
              <a:gd name="adj" fmla="val 358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41477" y="2696766"/>
            <a:ext cx="5754529" cy="403384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14832" y="2783800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Metric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95907" y="2783800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Value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341477" y="3100149"/>
            <a:ext cx="5754529" cy="403384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14832" y="3187184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Total Phase 1 User Stories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95907" y="3187184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43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341477" y="3503533"/>
            <a:ext cx="5754529" cy="403384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14832" y="3590568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Tested via Browser UAT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95907" y="3590568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43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341477" y="3906917"/>
            <a:ext cx="5754529" cy="403384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14832" y="3993952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Stories Passed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95907" y="3993952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43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341477" y="4310301"/>
            <a:ext cx="5754529" cy="403384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14832" y="4397335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Pass Rate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95907" y="4397335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95CCD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100%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34156" y="2215039"/>
            <a:ext cx="2600563" cy="325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Times New Roman" panose="02020603050405020304" charset="0"/>
                <a:ea typeface="Host Grotesk Medium" panose="020B0504030402000203" pitchFamily="34" charset="-122"/>
                <a:cs typeface="Times New Roman" panose="02020603050405020304" charset="0"/>
              </a:rPr>
              <a:t>System Accuracy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534156" y="2689146"/>
            <a:ext cx="5769769" cy="4049078"/>
          </a:xfrm>
          <a:prstGeom prst="roundRect">
            <a:avLst>
              <a:gd name="adj" fmla="val 17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541776" y="2696766"/>
            <a:ext cx="5754529" cy="403384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15131" y="2783800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Area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596205" y="2783800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Accuracy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541776" y="3100149"/>
            <a:ext cx="5754529" cy="403384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15131" y="3187184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User Acceptance Testing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596205" y="3187184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95CCD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100%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541776" y="3503533"/>
            <a:ext cx="5754529" cy="403384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15131" y="3590568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Risk Auto-Calculation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596205" y="3590568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95CCD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100%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541776" y="3906917"/>
            <a:ext cx="5754529" cy="403384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15131" y="3993952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Multi-Tenant Isolation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596205" y="3993952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95CCD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100%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541776" y="4310301"/>
            <a:ext cx="5754529" cy="403384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15131" y="4397335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Approval Workflow Progression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596205" y="4397335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95CCD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100%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541776" y="4713684"/>
            <a:ext cx="5754529" cy="403384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15131" y="4800719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PMM Auto-Scheduling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596205" y="4800719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95CCD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100%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7541776" y="5117068"/>
            <a:ext cx="5754529" cy="403384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15131" y="5204103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RBAC Permission Enforcement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0596205" y="5204103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95CCD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100%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7541776" y="5520452"/>
            <a:ext cx="5754529" cy="403384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15131" y="5607487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SSE Real-Time Notifications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596205" y="5607487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98%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7541776" y="5923836"/>
            <a:ext cx="5754529" cy="403384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15131" y="6010870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PDF Report Accuracy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0596205" y="6010870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93%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7541776" y="6327219"/>
            <a:ext cx="5754529" cy="403384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15131" y="6414254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Overall System Accuracy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0596205" y="6414254"/>
            <a:ext cx="2526744" cy="229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95CCD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~99%</a:t>
            </a:r>
            <a:endParaRPr lang="en-US" sz="1350" dirty="0"/>
          </a:p>
        </p:txBody>
      </p:sp>
      <p:sp>
        <p:nvSpPr>
          <p:cNvPr id="52" name="Rounded Rectangle 51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975" y="546100"/>
            <a:ext cx="4932045" cy="7327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Platform Completion — Phase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402449" y="1729264"/>
            <a:ext cx="2561273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43/58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850362" y="2202656"/>
            <a:ext cx="1665327" cy="1847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chemeClr val="accent6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🟢</a:t>
            </a:r>
            <a:r>
              <a:rPr lang="en-US" sz="11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 User Stories Complete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4564" y="1729264"/>
            <a:ext cx="2561273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43/43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14730" y="2202656"/>
            <a:ext cx="1800939" cy="1847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🟢 </a:t>
            </a:r>
            <a:r>
              <a:rPr lang="en-US" sz="11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Phase 1 Stories = 100%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66678" y="1729264"/>
            <a:ext cx="2561273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15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938974" y="2202656"/>
            <a:ext cx="2016681" cy="1847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chemeClr val="accent2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🟠</a:t>
            </a:r>
            <a:r>
              <a:rPr lang="en-US" sz="11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 Stories Planned for Phase 2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02330" y="2553970"/>
            <a:ext cx="7785735" cy="4345305"/>
          </a:xfrm>
          <a:prstGeom prst="rect">
            <a:avLst/>
          </a:prstGeom>
        </p:spPr>
      </p:pic>
      <p:sp>
        <p:nvSpPr>
          <p:cNvPr id="10" name="Shape 7"/>
          <p:cNvSpPr/>
          <p:nvPr>
            <p:custDataLst>
              <p:tags r:id="rId1"/>
            </p:custDataLst>
          </p:nvPr>
        </p:nvSpPr>
        <p:spPr>
          <a:xfrm>
            <a:off x="8900795" y="4060190"/>
            <a:ext cx="3532505" cy="542290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983980" y="4060825"/>
            <a:ext cx="334010" cy="540385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3"/>
            </p:custDataLst>
          </p:nvPr>
        </p:nvSpPr>
        <p:spPr>
          <a:xfrm>
            <a:off x="9524365" y="4277995"/>
            <a:ext cx="2376805" cy="4654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800" dirty="0">
                <a:solidFill>
                  <a:srgbClr val="384653"/>
                </a:solidFill>
              </a:rPr>
              <a:t>Complete·a%</a:t>
            </a:r>
            <a:endParaRPr lang="en-US" sz="2800" dirty="0"/>
          </a:p>
        </p:txBody>
      </p:sp>
      <p:sp>
        <p:nvSpPr>
          <p:cNvPr id="13" name="Text 9"/>
          <p:cNvSpPr/>
          <p:nvPr>
            <p:custDataLst>
              <p:tags r:id="rId4"/>
            </p:custDataLst>
          </p:nvPr>
        </p:nvSpPr>
        <p:spPr>
          <a:xfrm>
            <a:off x="11536238" y="4277723"/>
            <a:ext cx="365384" cy="160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800" dirty="0">
                <a:solidFill>
                  <a:srgbClr val="384653"/>
                </a:solidFill>
              </a:rPr>
              <a:t>·74%</a:t>
            </a:r>
          </a:p>
        </p:txBody>
      </p:sp>
      <p:sp>
        <p:nvSpPr>
          <p:cNvPr id="14" name="Text 10"/>
          <p:cNvSpPr/>
          <p:nvPr>
            <p:custDataLst>
              <p:tags r:id="rId5"/>
            </p:custDataLst>
          </p:nvPr>
        </p:nvSpPr>
        <p:spPr>
          <a:xfrm>
            <a:off x="10920787" y="3231243"/>
            <a:ext cx="35074" cy="160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</a:rPr>
              <a:t>·</a:t>
            </a:r>
            <a:endParaRPr lang="en-US" sz="700" dirty="0"/>
          </a:p>
        </p:txBody>
      </p:sp>
      <p:sp>
        <p:nvSpPr>
          <p:cNvPr id="15" name="Shape 11"/>
          <p:cNvSpPr/>
          <p:nvPr>
            <p:custDataLst>
              <p:tags r:id="rId6"/>
            </p:custDataLst>
          </p:nvPr>
        </p:nvSpPr>
        <p:spPr>
          <a:xfrm>
            <a:off x="8900795" y="4693920"/>
            <a:ext cx="3531870" cy="600075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973185" y="4733290"/>
            <a:ext cx="391795" cy="541020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8"/>
            </p:custDataLst>
          </p:nvPr>
        </p:nvSpPr>
        <p:spPr>
          <a:xfrm>
            <a:off x="9577792" y="4940591"/>
            <a:ext cx="719505" cy="160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800" dirty="0">
                <a:solidFill>
                  <a:srgbClr val="384653"/>
                </a:solidFill>
              </a:rPr>
              <a:t>Future·26%</a:t>
            </a:r>
          </a:p>
        </p:txBody>
      </p:sp>
      <p:sp>
        <p:nvSpPr>
          <p:cNvPr id="18" name="Text 13"/>
          <p:cNvSpPr/>
          <p:nvPr>
            <p:custDataLst>
              <p:tags r:id="rId9"/>
            </p:custDataLst>
          </p:nvPr>
        </p:nvSpPr>
        <p:spPr>
          <a:xfrm>
            <a:off x="11228070" y="4940300"/>
            <a:ext cx="1600835" cy="5416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800" dirty="0">
                <a:solidFill>
                  <a:srgbClr val="384653"/>
                </a:solidFill>
              </a:rPr>
              <a:t>·26%</a:t>
            </a:r>
            <a:endParaRPr lang="en-US" sz="2800" dirty="0"/>
          </a:p>
        </p:txBody>
      </p:sp>
      <p:sp>
        <p:nvSpPr>
          <p:cNvPr id="19" name="Text 14"/>
          <p:cNvSpPr/>
          <p:nvPr>
            <p:custDataLst>
              <p:tags r:id="rId10"/>
            </p:custDataLst>
          </p:nvPr>
        </p:nvSpPr>
        <p:spPr>
          <a:xfrm>
            <a:off x="9577447" y="4724691"/>
            <a:ext cx="35074" cy="160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</a:rPr>
              <a:t>·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859790" y="7221855"/>
            <a:ext cx="9664065" cy="613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2000" i="1" dirty="0">
                <a:solidFill>
                  <a:srgbClr val="95CCD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Platform fully functional for Phase 1 scope. Phase 2 features require LLM API keys, SMTP, GitHub tokens.</a:t>
            </a:r>
            <a:endParaRPr lang="en-US" sz="2000" dirty="0"/>
          </a:p>
        </p:txBody>
      </p:sp>
      <p:sp>
        <p:nvSpPr>
          <p:cNvPr id="21" name="Rounded Rectangle 20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8643"/>
            <a:ext cx="9482733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AI Compliance Framework Coverage</a:t>
            </a:r>
            <a:endParaRPr lang="en-US" sz="445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93790" y="2691051"/>
            <a:ext cx="6407944" cy="1423749"/>
          </a:xfrm>
          <a:prstGeom prst="roundRect">
            <a:avLst>
              <a:gd name="adj" fmla="val 6691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793909" y="2691170"/>
            <a:ext cx="3402330" cy="4329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EU AI Act</a:t>
            </a:r>
            <a:endParaRPr lang="en-US" sz="265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785019" y="3351609"/>
            <a:ext cx="5893356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13 control categories, ~60 questionnaire controls</a:t>
            </a:r>
            <a:endParaRPr lang="en-US" sz="1750" dirty="0"/>
          </a:p>
        </p:txBody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7451408" y="2691051"/>
            <a:ext cx="6408063" cy="1423749"/>
          </a:xfrm>
          <a:prstGeom prst="roundRect">
            <a:avLst>
              <a:gd name="adj" fmla="val 6691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7582337" y="2748320"/>
            <a:ext cx="3402330" cy="4329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ISO 42001</a:t>
            </a:r>
            <a:endParaRPr lang="en-US" sz="265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7582337" y="3351609"/>
            <a:ext cx="5893475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7 clauses, Annex A &amp; B — 7-stage workflow per subclause</a:t>
            </a:r>
            <a:endParaRPr lang="en-US" sz="1750" dirty="0"/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793790" y="4355584"/>
            <a:ext cx="6407944" cy="1763911"/>
          </a:xfrm>
          <a:prstGeom prst="roundRect">
            <a:avLst>
              <a:gd name="adj" fmla="val 5401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793909" y="4463653"/>
            <a:ext cx="3402330" cy="4329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ISO 27001</a:t>
            </a:r>
            <a:endParaRPr lang="en-US" sz="265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883444" y="5165368"/>
            <a:ext cx="5893356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7 clauses, 93 Annex A controls — implementation tracking</a:t>
            </a:r>
            <a:endParaRPr lang="en-US" sz="1750" dirty="0"/>
          </a:p>
        </p:txBody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7428548" y="4341614"/>
            <a:ext cx="6408063" cy="1763911"/>
          </a:xfrm>
          <a:prstGeom prst="roundRect">
            <a:avLst>
              <a:gd name="adj" fmla="val 5401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7451527" y="4436983"/>
            <a:ext cx="3402330" cy="4329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NIST AI RMF</a:t>
            </a:r>
            <a:endParaRPr lang="en-US" sz="2650" dirty="0"/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7428667" y="5146953"/>
            <a:ext cx="5893475" cy="6803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4 functions (Govern/Map/Measure/Manage), ~70 subcategories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360676"/>
            <a:ext cx="13042821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Each framework card with official logo/flag icon and a green </a:t>
            </a:r>
            <a:r>
              <a:rPr lang="en-US" sz="1750" i="1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r>
              <a:rPr lang="en-US" sz="17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badge</a:t>
            </a:r>
            <a:endParaRPr lang="en-US" sz="1750" dirty="0"/>
          </a:p>
        </p:txBody>
      </p:sp>
      <p:sp>
        <p:nvSpPr>
          <p:cNvPr id="16" name="Rounded Rectangle 15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44845" y="3411855"/>
            <a:ext cx="377825" cy="28003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78295" y="5225415"/>
            <a:ext cx="377825" cy="28003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348970" y="3411855"/>
            <a:ext cx="377825" cy="28003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88730" y="5614670"/>
            <a:ext cx="377825" cy="165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7">
            <a:alphaModFix amt="80000"/>
          </a:blip>
          <a:srcRect t="-4257" r="70468"/>
          <a:stretch>
            <a:fillRect/>
          </a:stretch>
        </p:blipFill>
        <p:spPr>
          <a:xfrm>
            <a:off x="2337435" y="2691130"/>
            <a:ext cx="830580" cy="490220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18">
            <a:alphaModFix amt="80000"/>
          </a:blip>
          <a:stretch>
            <a:fillRect/>
          </a:stretch>
        </p:blipFill>
        <p:spPr>
          <a:xfrm>
            <a:off x="9266555" y="2696845"/>
            <a:ext cx="882650" cy="522605"/>
          </a:xfrm>
          <a:prstGeom prst="rect">
            <a:avLst/>
          </a:prstGeom>
        </p:spPr>
      </p:pic>
      <p:pic>
        <p:nvPicPr>
          <p:cNvPr id="24" name="Picture 23"/>
          <p:cNvPicPr/>
          <p:nvPr/>
        </p:nvPicPr>
        <p:blipFill>
          <a:blip r:embed="rId19">
            <a:alphaModFix amt="80000"/>
          </a:blip>
          <a:stretch>
            <a:fillRect/>
          </a:stretch>
        </p:blipFill>
        <p:spPr>
          <a:xfrm>
            <a:off x="2440940" y="4472305"/>
            <a:ext cx="704850" cy="393065"/>
          </a:xfrm>
          <a:prstGeom prst="rect">
            <a:avLst/>
          </a:prstGeom>
        </p:spPr>
      </p:pic>
      <p:pic>
        <p:nvPicPr>
          <p:cNvPr id="26" name="Picture 25"/>
          <p:cNvPicPr/>
          <p:nvPr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86900" y="4396105"/>
            <a:ext cx="651510" cy="4686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699492"/>
            <a:ext cx="8404860" cy="6593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What We Achieved in FYP Phase 1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38426" y="1751409"/>
            <a:ext cx="474702" cy="4747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22933" y="1829832"/>
            <a:ext cx="12482632" cy="3053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r>
              <a:rPr lang="en-US" sz="16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    Built a fully functional, self-hostable AI Governance Platform from scratch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38426" y="2618661"/>
            <a:ext cx="474702" cy="4747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2933" y="2704068"/>
            <a:ext cx="12482632" cy="3053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r>
              <a:rPr lang="en-US" sz="16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    43 user stories across 20 EPICs delivered and tested — 100% UAT pass rate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8426" y="3485912"/>
            <a:ext cx="474702" cy="4747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22933" y="3570049"/>
            <a:ext cx="12482632" cy="3053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r>
              <a:rPr lang="en-US" sz="16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    Complete coverage of EU AI Act, ISO 42001, ISO 27001, and NIST AI RMF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38426" y="4353163"/>
            <a:ext cx="474702" cy="4747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2933" y="4476671"/>
            <a:ext cx="12482632" cy="3053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r>
              <a:rPr lang="en-US" sz="16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    No comparable open-source self-hostable product provides this scope of features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38426" y="5220414"/>
            <a:ext cx="474702" cy="4747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2933" y="5321697"/>
            <a:ext cx="12482632" cy="3053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r>
              <a:rPr lang="en-US" sz="16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    Clean Architecture, Docker + Kubernetes deployment, Multi-tenancy fully operational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8426" y="6087666"/>
            <a:ext cx="474702" cy="4747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2933" y="6166088"/>
            <a:ext cx="12482632" cy="3053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   </a:t>
            </a:r>
            <a:r>
              <a:rPr lang="en-US" sz="16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 ~99% overall system accuracy across all measured areas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1524" y="6988612"/>
            <a:ext cx="12837081" cy="3053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i="1" dirty="0">
                <a:solidFill>
                  <a:srgbClr val="C3643D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Aegis.AI democratizes AI governance for organizations that cannot afford enterprise SaaS tools.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38426" y="6783110"/>
            <a:ext cx="22860" cy="746879"/>
          </a:xfrm>
          <a:prstGeom prst="rect">
            <a:avLst/>
          </a:prstGeom>
          <a:solidFill>
            <a:srgbClr val="95CCDA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518" y="632182"/>
            <a:ext cx="6552367" cy="6367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What's Next — FYP Phase 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798" y="1528207"/>
            <a:ext cx="5014913" cy="3821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95CCDA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(15 User Stories | 114 Story Points)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3303" y="2428280"/>
            <a:ext cx="13203793" cy="4739759"/>
          </a:xfrm>
          <a:prstGeom prst="roundRect">
            <a:avLst>
              <a:gd name="adj" fmla="val 180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0923" y="2435900"/>
            <a:ext cx="13187124" cy="524947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187" y="2553295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Number</a:t>
            </a:r>
          </a:p>
        </p:txBody>
      </p:sp>
      <p:sp>
        <p:nvSpPr>
          <p:cNvPr id="7" name="Text 5"/>
          <p:cNvSpPr/>
          <p:nvPr/>
        </p:nvSpPr>
        <p:spPr>
          <a:xfrm>
            <a:off x="5325189" y="2553295"/>
            <a:ext cx="398014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Feature</a:t>
            </a:r>
          </a:p>
        </p:txBody>
      </p:sp>
      <p:sp>
        <p:nvSpPr>
          <p:cNvPr id="8" name="Text 6"/>
          <p:cNvSpPr/>
          <p:nvPr/>
        </p:nvSpPr>
        <p:spPr>
          <a:xfrm>
            <a:off x="9720382" y="2553295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</a:rPr>
              <a:t>Requirement</a:t>
            </a:r>
          </a:p>
        </p:txBody>
      </p:sp>
      <p:sp>
        <p:nvSpPr>
          <p:cNvPr id="9" name="Shape 7"/>
          <p:cNvSpPr/>
          <p:nvPr/>
        </p:nvSpPr>
        <p:spPr>
          <a:xfrm>
            <a:off x="720923" y="2960846"/>
            <a:ext cx="13187124" cy="524947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6187" y="3078242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25189" y="3078242"/>
            <a:ext cx="398014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AI Advisor with live LLM 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20382" y="3078242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OpenAI / Anthropic key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0923" y="3485793"/>
            <a:ext cx="13187124" cy="524947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6187" y="3603188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25189" y="3603188"/>
            <a:ext cx="398014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LLM Evaluations &amp; Arena (DeepEval)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20382" y="3603188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EvalServer + API key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0923" y="4010739"/>
            <a:ext cx="13187124" cy="524947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6187" y="4128135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25189" y="4128135"/>
            <a:ext cx="398014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AI Detection Module (GitHub scanning)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20382" y="4128135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GitHub token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0923" y="4535686"/>
            <a:ext cx="13187124" cy="524947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6187" y="4653082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25189" y="4653082"/>
            <a:ext cx="398014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Bias &amp; Fairness Evaluation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20382" y="4653082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EvalServer + LLM key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0923" y="5060633"/>
            <a:ext cx="13187124" cy="524947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6187" y="5178028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25189" y="5178028"/>
            <a:ext cx="398014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Email Notifications (password reset, PMM)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20382" y="5178028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SMTP / AWS SES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0923" y="5585579"/>
            <a:ext cx="13187124" cy="524947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6187" y="5702975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25189" y="5702975"/>
            <a:ext cx="398014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Slack Automation integration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20382" y="5702975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Slack webhook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0923" y="6110526"/>
            <a:ext cx="13187124" cy="524947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26187" y="6227921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25189" y="6227921"/>
            <a:ext cx="398014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MLflow model sync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720382" y="6227921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MLflow instance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20923" y="6635472"/>
            <a:ext cx="13187124" cy="524947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26187" y="6752868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25189" y="6752868"/>
            <a:ext cx="398014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Cloud Deployment (AWS/Azure)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720382" y="6752868"/>
            <a:ext cx="3983950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41" name="Rounded Rectangle 40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4475" y="1120021"/>
            <a:ext cx="8406765" cy="10508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250"/>
              </a:lnSpc>
              <a:buNone/>
            </a:pPr>
            <a:r>
              <a:rPr lang="en-US" sz="660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766649" y="2560201"/>
            <a:ext cx="1134915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i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We sincerely thank Sir Usama Ahmad for his continuous guidance and support throughout FYP Phase 1.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514475" y="2420064"/>
            <a:ext cx="22860" cy="554593"/>
          </a:xfrm>
          <a:prstGeom prst="rect">
            <a:avLst/>
          </a:prstGeom>
          <a:solidFill>
            <a:srgbClr val="95CCDA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14475" y="3161586"/>
            <a:ext cx="2521982" cy="315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Resource Links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14475" y="3663672"/>
            <a:ext cx="11601331" cy="438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GitHub Repository</a:t>
            </a:r>
            <a:r>
              <a:rPr lang="en-US" sz="13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github.com/muhammadharis356/aegis-develop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14475" y="4242673"/>
            <a:ext cx="11601331" cy="438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Documentation</a:t>
            </a:r>
            <a:r>
              <a:rPr lang="en-US" sz="13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Submitted with this presentation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14475" y="4821674"/>
            <a:ext cx="11601331" cy="438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Figma Designs</a:t>
            </a:r>
            <a:r>
              <a:rPr lang="en-US" sz="13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figma.com/design/35gFjjYXV4dOuEBV08LCg6/Aegis.AI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14475" y="5447467"/>
            <a:ext cx="2521982" cy="315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Team Members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14475" y="5949553"/>
            <a:ext cx="11601331" cy="74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Muhammad Haris — F2022376040</a:t>
            </a:r>
            <a:endParaRPr lang="en-US" sz="13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Ahmed Abdullah Khan — F2022376096</a:t>
            </a:r>
            <a:endParaRPr lang="en-US" sz="13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Farhana Minhas — F2022376126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14475" y="6835140"/>
            <a:ext cx="11601331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i="1" dirty="0">
                <a:solidFill>
                  <a:srgbClr val="C3643D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Any questions? We're happy to answer.</a:t>
            </a:r>
            <a:endParaRPr lang="en-US" sz="1650" dirty="0"/>
          </a:p>
        </p:txBody>
      </p:sp>
      <p:sp>
        <p:nvSpPr>
          <p:cNvPr id="12" name="Rounded Rectangle 11"/>
          <p:cNvSpPr/>
          <p:nvPr/>
        </p:nvSpPr>
        <p:spPr>
          <a:xfrm>
            <a:off x="12813665" y="7753350"/>
            <a:ext cx="1769745" cy="476885"/>
          </a:xfrm>
          <a:prstGeom prst="round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7874015747,&quot;left&quot;:60.10314960629921,&quot;top&quot;:143.30622047244094,&quot;width&quot;:681.103149606299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3.171968503937,&quot;left&quot;:38.90314960629921,&quot;top&quot;:169.02496062992125,&quot;width&quot;:670.343700787401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3.171968503937,&quot;left&quot;:38.90314960629921,&quot;top&quot;:169.02496062992125,&quot;width&quot;:670.343700787401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3.171968503937,&quot;left&quot;:38.90314960629921,&quot;top&quot;:169.02496062992125,&quot;width&quot;:670.343700787401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3.171968503937,&quot;left&quot;:38.90314960629921,&quot;top&quot;:169.02496062992125,&quot;width&quot;:670.343700787401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3.171968503937,&quot;left&quot;:38.90314960629921,&quot;top&quot;:169.02496062992125,&quot;width&quot;:670.343700787401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3.171968503937,&quot;left&quot;:38.90314960629921,&quot;top&quot;:169.02496062992125,&quot;width&quot;:670.343700787401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3.171968503937,&quot;left&quot;:38.90314960629921,&quot;top&quot;:169.02496062992125,&quot;width&quot;:670.343700787401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3.171968503937,&quot;left&quot;:38.90314960629921,&quot;top&quot;:169.02496062992125,&quot;width&quot;:670.343700787401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3.171968503937,&quot;left&quot;:38.90314960629921,&quot;top&quot;:169.02496062992125,&quot;width&quot;:670.343700787401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3.171968503937,&quot;left&quot;:38.90314960629921,&quot;top&quot;:169.02496062992125,&quot;width&quot;:670.343700787401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3.171968503937,&quot;left&quot;:38.90314960629921,&quot;top&quot;:169.02496062992125,&quot;width&quot;:670.343700787401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3.171968503937,&quot;left&quot;:38.90314960629921,&quot;top&quot;:169.02496062992125,&quot;width&quot;:670.343700787401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5*497"/>
  <p:tag name="TABLE_ENDDRAG_RECT" val="47*156*675*49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22141732283467,&quot;left&quot;:700.85,&quot;top&quot;:254.42858267716534,&quot;width&quot;:309.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22141732283467,&quot;left&quot;:700.85,&quot;top&quot;:254.42858267716534,&quot;width&quot;:309.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22141732283467,&quot;left&quot;:700.85,&quot;top&quot;:254.42858267716534,&quot;width&quot;:309.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22141732283467,&quot;left&quot;:700.85,&quot;top&quot;:254.42858267716534,&quot;width&quot;:309.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22141732283467,&quot;left&quot;:700.85,&quot;top&quot;:254.42858267716534,&quot;width&quot;:309.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22141732283467,&quot;left&quot;:700.85,&quot;top&quot;:254.42858267716534,&quot;width&quot;:309.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22141732283467,&quot;left&quot;:700.85,&quot;top&quot;:254.42858267716534,&quot;width&quot;:309.3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22141732283467,&quot;left&quot;:700.85,&quot;top&quot;:254.42858267716534,&quot;width&quot;:309.3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22141732283467,&quot;left&quot;:700.85,&quot;top&quot;:254.42858267716534,&quot;width&quot;:309.3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22141732283467,&quot;left&quot;:700.85,&quot;top&quot;:254.42858267716534,&quot;width&quot;:309.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956220472441,&quot;left&quot;:62.50314960629921,&quot;top&quot;:211.89377952755905,&quot;width&quot;:1026.993779527559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956220472441,&quot;left&quot;:62.50314960629921,&quot;top&quot;:211.89377952755905,&quot;width&quot;:1026.9937795275594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956220472441,&quot;left&quot;:62.50314960629921,&quot;top&quot;:211.89377952755905,&quot;width&quot;:1026.9937795275594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956220472441,&quot;left&quot;:62.50314960629921,&quot;top&quot;:211.89377952755905,&quot;width&quot;:1026.9937795275594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956220472441,&quot;left&quot;:62.50314960629921,&quot;top&quot;:211.89377952755905,&quot;width&quot;:1026.9937795275594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956220472441,&quot;left&quot;:62.50314960629921,&quot;top&quot;:211.89377952755905,&quot;width&quot;:1026.9937795275594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956220472441,&quot;left&quot;:62.50314960629921,&quot;top&quot;:211.89377952755905,&quot;width&quot;:1026.9937795275594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956220472441,&quot;left&quot;:62.50314960629921,&quot;top&quot;:211.89377952755905,&quot;width&quot;:1026.9937795275594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956220472441,&quot;left&quot;:62.50314960629921,&quot;top&quot;:211.89377952755905,&quot;width&quot;:1026.9937795275594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956220472441,&quot;left&quot;:62.50314960629921,&quot;top&quot;:211.89377952755905,&quot;width&quot;:1026.9937795275594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956220472441,&quot;left&quot;:62.50314960629921,&quot;top&quot;:211.89377952755905,&quot;width&quot;:1026.9937795275594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956220472441,&quot;left&quot;:62.50314960629921,&quot;top&quot;:211.89377952755905,&quot;width&quot;:1026.993779527559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1711</Words>
  <Application>Microsoft Office PowerPoint</Application>
  <PresentationFormat>Custom</PresentationFormat>
  <Paragraphs>433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Host Grotesk Medium</vt:lpstr>
      <vt:lpstr>Arial</vt:lpstr>
      <vt:lpstr>Wingdings</vt:lpstr>
      <vt:lpstr>Roboto</vt:lpstr>
      <vt:lpstr>Segoe UI Black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Muhammad Haris</cp:lastModifiedBy>
  <cp:revision>4</cp:revision>
  <dcterms:created xsi:type="dcterms:W3CDTF">2026-03-23T14:01:00Z</dcterms:created>
  <dcterms:modified xsi:type="dcterms:W3CDTF">2026-03-24T17:19:17Z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35968B57CC844D998B0AA86CABF1EB92_13</vt:lpwstr>
  </property>
  <property fmtid="{D5CDD505-2E9C-101B-9397-08002B2CF9AE}" pid="3" name="KSOProductBuildVer">
    <vt:lpwstr>2057-12.2.0.23197</vt:lpwstr>
  </property>
</Properties>
</file>